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60"/>
    <p:restoredTop sz="94610"/>
  </p:normalViewPr>
  <p:slideViewPr>
    <p:cSldViewPr snapToGrid="0" snapToObjects="1">
      <p:cViewPr>
        <p:scale>
          <a:sx n="98" d="100"/>
          <a:sy n="98" d="100"/>
        </p:scale>
        <p:origin x="1888" y="20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7098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1789611" y="1028213"/>
            <a:ext cx="8229600" cy="822960"/>
          </a:xfrm>
          <a:prstGeom prst="rect">
            <a:avLst/>
          </a:prstGeom>
          <a:noFill/>
          <a:ln/>
        </p:spPr>
        <p:txBody>
          <a:bodyPr wrap="square" rtlCol="0" anchor="ctr"/>
          <a:lstStyle/>
          <a:p>
            <a:pPr marL="0" indent="0" algn="ctr">
              <a:buNone/>
            </a:pPr>
            <a:r>
              <a:rPr lang="en-US" sz="6800" b="1" kern="0" spc="300" dirty="0">
                <a:solidFill>
                  <a:srgbClr val="FFFFFF"/>
                </a:solidFill>
                <a:latin typeface="Arial Black" pitchFamily="34" charset="0"/>
                <a:ea typeface="Arial Black" pitchFamily="34" charset="-122"/>
                <a:cs typeface="Arial Black" pitchFamily="34" charset="-120"/>
              </a:rPr>
              <a:t>Cible</a:t>
            </a:r>
            <a:endParaRPr lang="en-US" sz="6800" dirty="0"/>
          </a:p>
        </p:txBody>
      </p:sp>
      <p:sp>
        <p:nvSpPr>
          <p:cNvPr id="3" name="Text 1"/>
          <p:cNvSpPr/>
          <p:nvPr/>
        </p:nvSpPr>
        <p:spPr>
          <a:xfrm>
            <a:off x="-1789611" y="2354093"/>
            <a:ext cx="8229600" cy="457200"/>
          </a:xfrm>
          <a:prstGeom prst="rect">
            <a:avLst/>
          </a:prstGeom>
          <a:noFill/>
          <a:ln/>
        </p:spPr>
        <p:txBody>
          <a:bodyPr wrap="square" rtlCol="0" anchor="ctr"/>
          <a:lstStyle/>
          <a:p>
            <a:pPr marL="0" indent="0" algn="ctr">
              <a:buNone/>
            </a:pPr>
            <a:r>
              <a:rPr lang="en-US" sz="3200" i="1" dirty="0">
                <a:solidFill>
                  <a:srgbClr val="CADCFC"/>
                </a:solidFill>
                <a:latin typeface="Georgia" pitchFamily="34" charset="0"/>
                <a:ea typeface="Georgia" pitchFamily="34" charset="-122"/>
                <a:cs typeface="Georgia" pitchFamily="34" charset="-120"/>
              </a:rPr>
              <a:t>AI On Your </a:t>
            </a:r>
            <a:r>
              <a:rPr lang="en-US" sz="3200" b="1" i="1" dirty="0">
                <a:solidFill>
                  <a:srgbClr val="D4AF37"/>
                </a:solidFill>
                <a:latin typeface="Georgia" pitchFamily="34" charset="0"/>
                <a:ea typeface="Georgia" pitchFamily="34" charset="-122"/>
                <a:cs typeface="Georgia" pitchFamily="34" charset="-120"/>
              </a:rPr>
              <a:t>Finger</a:t>
            </a:r>
            <a:endParaRPr lang="en-US" sz="3200" dirty="0"/>
          </a:p>
        </p:txBody>
      </p:sp>
      <p:sp>
        <p:nvSpPr>
          <p:cNvPr id="4" name="Shape 2"/>
          <p:cNvSpPr/>
          <p:nvPr/>
        </p:nvSpPr>
        <p:spPr>
          <a:xfrm>
            <a:off x="1267097" y="2863705"/>
            <a:ext cx="1828800" cy="54864"/>
          </a:xfrm>
          <a:prstGeom prst="rect">
            <a:avLst/>
          </a:prstGeom>
          <a:solidFill>
            <a:srgbClr val="D4AF37"/>
          </a:solidFill>
          <a:ln/>
        </p:spPr>
        <p:txBody>
          <a:bodyPr/>
          <a:lstStyle/>
          <a:p>
            <a:endParaRPr lang="en-US"/>
          </a:p>
        </p:txBody>
      </p:sp>
      <p:sp>
        <p:nvSpPr>
          <p:cNvPr id="5" name="Shape 3"/>
          <p:cNvSpPr/>
          <p:nvPr/>
        </p:nvSpPr>
        <p:spPr>
          <a:xfrm>
            <a:off x="660082" y="3558649"/>
            <a:ext cx="3857625" cy="1097280"/>
          </a:xfrm>
          <a:prstGeom prst="rect">
            <a:avLst/>
          </a:prstGeom>
          <a:solidFill>
            <a:srgbClr val="FFFFFF">
              <a:alpha val="90000"/>
            </a:srgbClr>
          </a:solidFill>
          <a:ln/>
        </p:spPr>
        <p:txBody>
          <a:bodyPr/>
          <a:lstStyle/>
          <a:p>
            <a:endParaRPr lang="en-US"/>
          </a:p>
        </p:txBody>
      </p:sp>
      <p:sp>
        <p:nvSpPr>
          <p:cNvPr id="6" name="Text 4"/>
          <p:cNvSpPr/>
          <p:nvPr/>
        </p:nvSpPr>
        <p:spPr>
          <a:xfrm>
            <a:off x="696310" y="3741529"/>
            <a:ext cx="3857625" cy="731520"/>
          </a:xfrm>
          <a:prstGeom prst="rect">
            <a:avLst/>
          </a:prstGeom>
          <a:noFill/>
          <a:ln/>
        </p:spPr>
        <p:txBody>
          <a:bodyPr wrap="square" rtlCol="0" anchor="ctr"/>
          <a:lstStyle/>
          <a:p>
            <a:pPr marL="0" indent="0" algn="ctr">
              <a:buNone/>
            </a:pPr>
            <a:r>
              <a:rPr lang="en-US" sz="1800" dirty="0">
                <a:latin typeface="Calibri" pitchFamily="34" charset="0"/>
                <a:ea typeface="Calibri" pitchFamily="34" charset="-122"/>
                <a:cs typeface="Calibri" pitchFamily="34" charset="-120"/>
              </a:rPr>
              <a:t>A ring that thinks. </a:t>
            </a:r>
            <a:r>
              <a:rPr lang="en-US" sz="1800" i="1" dirty="0">
                <a:latin typeface="Calibri" pitchFamily="34" charset="0"/>
                <a:ea typeface="Calibri" pitchFamily="34" charset="-122"/>
                <a:cs typeface="Calibri" pitchFamily="34" charset="-120"/>
              </a:rPr>
              <a:t>Jewelry first, AI second.</a:t>
            </a:r>
            <a:endParaRPr lang="en-US" sz="1800" dirty="0"/>
          </a:p>
        </p:txBody>
      </p:sp>
      <p:pic>
        <p:nvPicPr>
          <p:cNvPr id="9" name="Picture 8" descr="A hand with a ring on a finger&#10;&#10;AI-generated content may be incorrect.">
            <a:extLst>
              <a:ext uri="{FF2B5EF4-FFF2-40B4-BE49-F238E27FC236}">
                <a16:creationId xmlns:a16="http://schemas.microsoft.com/office/drawing/2014/main" id="{67B41146-8283-92B8-D702-23F468327F75}"/>
              </a:ext>
            </a:extLst>
          </p:cNvPr>
          <p:cNvPicPr>
            <a:picLocks noChangeAspect="1"/>
          </p:cNvPicPr>
          <p:nvPr/>
        </p:nvPicPr>
        <p:blipFill>
          <a:blip r:embed="rId3"/>
          <a:srcRect l="9857" t="-1" r="363" b="9838"/>
          <a:stretch>
            <a:fillRect/>
          </a:stretch>
        </p:blipFill>
        <p:spPr>
          <a:xfrm>
            <a:off x="5286375" y="0"/>
            <a:ext cx="3857625" cy="51653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marL="0" indent="0">
              <a:buNone/>
            </a:pPr>
            <a:r>
              <a:rPr lang="en-US" sz="3200" b="1" dirty="0">
                <a:solidFill>
                  <a:srgbClr val="1E2761"/>
                </a:solidFill>
                <a:latin typeface="Arial Black" pitchFamily="34" charset="0"/>
                <a:ea typeface="Arial Black" pitchFamily="34" charset="-122"/>
                <a:cs typeface="Arial Black" pitchFamily="34" charset="-120"/>
              </a:rPr>
              <a:t>How Cible Works</a:t>
            </a:r>
            <a:endParaRPr lang="en-US" sz="3200" dirty="0"/>
          </a:p>
        </p:txBody>
      </p:sp>
      <p:sp>
        <p:nvSpPr>
          <p:cNvPr id="3" name="Text 1"/>
          <p:cNvSpPr/>
          <p:nvPr/>
        </p:nvSpPr>
        <p:spPr>
          <a:xfrm>
            <a:off x="457200" y="822960"/>
            <a:ext cx="8229600" cy="320040"/>
          </a:xfrm>
          <a:prstGeom prst="rect">
            <a:avLst/>
          </a:prstGeom>
          <a:noFill/>
          <a:ln/>
        </p:spPr>
        <p:txBody>
          <a:bodyPr wrap="square" rtlCol="0" anchor="ctr"/>
          <a:lstStyle/>
          <a:p>
            <a:pPr marL="0" indent="0" algn="ctr">
              <a:buNone/>
            </a:pPr>
            <a:r>
              <a:rPr lang="en-US" sz="1600" i="1" dirty="0">
                <a:solidFill>
                  <a:srgbClr val="64748B"/>
                </a:solidFill>
                <a:latin typeface="Georgia" pitchFamily="34" charset="0"/>
                <a:ea typeface="Georgia" pitchFamily="34" charset="-122"/>
                <a:cs typeface="Georgia" pitchFamily="34" charset="-120"/>
              </a:rPr>
              <a:t>Twist to record. AI takes action.</a:t>
            </a:r>
            <a:endParaRPr lang="en-US" sz="1600" dirty="0"/>
          </a:p>
        </p:txBody>
      </p:sp>
      <p:sp>
        <p:nvSpPr>
          <p:cNvPr id="4" name="Shape 2"/>
          <p:cNvSpPr/>
          <p:nvPr/>
        </p:nvSpPr>
        <p:spPr>
          <a:xfrm>
            <a:off x="457200" y="1280160"/>
            <a:ext cx="8229600" cy="10515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457200" y="1280160"/>
            <a:ext cx="73152" cy="1051560"/>
          </a:xfrm>
          <a:prstGeom prst="rect">
            <a:avLst/>
          </a:prstGeom>
          <a:solidFill>
            <a:srgbClr val="8B5CF6"/>
          </a:solidFill>
          <a:ln/>
        </p:spPr>
        <p:txBody>
          <a:bodyPr/>
          <a:lstStyle/>
          <a:p>
            <a:endParaRPr lang="en-US"/>
          </a:p>
        </p:txBody>
      </p:sp>
      <p:sp>
        <p:nvSpPr>
          <p:cNvPr id="6" name="Shape 4"/>
          <p:cNvSpPr/>
          <p:nvPr/>
        </p:nvSpPr>
        <p:spPr>
          <a:xfrm>
            <a:off x="731520" y="1554480"/>
            <a:ext cx="502920" cy="502920"/>
          </a:xfrm>
          <a:prstGeom prst="ellipse">
            <a:avLst/>
          </a:prstGeom>
          <a:solidFill>
            <a:srgbClr val="8B5CF6"/>
          </a:solidFill>
          <a:ln/>
        </p:spPr>
        <p:txBody>
          <a:bodyPr/>
          <a:lstStyle/>
          <a:p>
            <a:endParaRPr lang="en-US"/>
          </a:p>
        </p:txBody>
      </p:sp>
      <p:sp>
        <p:nvSpPr>
          <p:cNvPr id="7" name="Text 5"/>
          <p:cNvSpPr/>
          <p:nvPr/>
        </p:nvSpPr>
        <p:spPr>
          <a:xfrm>
            <a:off x="731520" y="1554480"/>
            <a:ext cx="502920" cy="502920"/>
          </a:xfrm>
          <a:prstGeom prst="rect">
            <a:avLst/>
          </a:prstGeom>
          <a:noFill/>
          <a:ln/>
        </p:spPr>
        <p:txBody>
          <a:bodyPr wrap="square" rtlCol="0" anchor="ctr"/>
          <a:lstStyle/>
          <a:p>
            <a:pPr marL="0" indent="0" algn="ctr">
              <a:buNone/>
            </a:pPr>
            <a:r>
              <a:rPr lang="en-US" sz="2400" b="1" dirty="0">
                <a:solidFill>
                  <a:srgbClr val="FFFFFF"/>
                </a:solidFill>
                <a:latin typeface="Arial Black" pitchFamily="34" charset="0"/>
                <a:ea typeface="Arial Black" pitchFamily="34" charset="-122"/>
                <a:cs typeface="Arial Black" pitchFamily="34" charset="-120"/>
              </a:rPr>
              <a:t>1</a:t>
            </a:r>
            <a:endParaRPr lang="en-US" sz="2400" dirty="0"/>
          </a:p>
        </p:txBody>
      </p:sp>
      <p:sp>
        <p:nvSpPr>
          <p:cNvPr id="8" name="Text 6"/>
          <p:cNvSpPr/>
          <p:nvPr/>
        </p:nvSpPr>
        <p:spPr>
          <a:xfrm>
            <a:off x="1371600" y="1463040"/>
            <a:ext cx="6858000" cy="320040"/>
          </a:xfrm>
          <a:prstGeom prst="rect">
            <a:avLst/>
          </a:prstGeom>
          <a:noFill/>
          <a:ln/>
        </p:spPr>
        <p:txBody>
          <a:bodyPr wrap="square" rtlCol="0" anchor="ctr"/>
          <a:lstStyle/>
          <a:p>
            <a:pPr marL="0" indent="0">
              <a:buNone/>
            </a:pPr>
            <a:r>
              <a:rPr lang="en-US" sz="1800" b="1" dirty="0">
                <a:solidFill>
                  <a:srgbClr val="1E2761"/>
                </a:solidFill>
                <a:latin typeface="Arial" pitchFamily="34" charset="0"/>
                <a:ea typeface="Arial" pitchFamily="34" charset="-122"/>
                <a:cs typeface="Arial" pitchFamily="34" charset="-120"/>
              </a:rPr>
              <a:t>Personal Encyclopedia</a:t>
            </a:r>
            <a:endParaRPr lang="en-US" sz="1800" dirty="0"/>
          </a:p>
        </p:txBody>
      </p:sp>
      <p:sp>
        <p:nvSpPr>
          <p:cNvPr id="9" name="Text 7"/>
          <p:cNvSpPr/>
          <p:nvPr/>
        </p:nvSpPr>
        <p:spPr>
          <a:xfrm>
            <a:off x="1371600" y="1810512"/>
            <a:ext cx="6858000" cy="457200"/>
          </a:xfrm>
          <a:prstGeom prst="rect">
            <a:avLst/>
          </a:prstGeom>
          <a:noFill/>
          <a:ln/>
        </p:spPr>
        <p:txBody>
          <a:bodyPr wrap="square" rtlCol="0" anchor="t"/>
          <a:lstStyle/>
          <a:p>
            <a:pPr marL="0" indent="0">
              <a:buNone/>
            </a:pPr>
            <a:r>
              <a:rPr lang="en-US" sz="1200" dirty="0">
                <a:solidFill>
                  <a:srgbClr val="2C3E50"/>
                </a:solidFill>
                <a:latin typeface="Calibri" pitchFamily="34" charset="0"/>
                <a:ea typeface="Calibri" pitchFamily="34" charset="-122"/>
                <a:cs typeface="Calibri" pitchFamily="34" charset="-120"/>
              </a:rPr>
              <a:t>Ask anything, anytime. Bring curiosity back to life—from 'Why is California's sky so blue?' to any spontaneous question.</a:t>
            </a:r>
            <a:endParaRPr lang="en-US" sz="1200" dirty="0"/>
          </a:p>
        </p:txBody>
      </p:sp>
      <p:sp>
        <p:nvSpPr>
          <p:cNvPr id="10" name="Shape 8"/>
          <p:cNvSpPr/>
          <p:nvPr/>
        </p:nvSpPr>
        <p:spPr>
          <a:xfrm>
            <a:off x="457200" y="2441448"/>
            <a:ext cx="8229600" cy="10515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1" name="Shape 9"/>
          <p:cNvSpPr/>
          <p:nvPr/>
        </p:nvSpPr>
        <p:spPr>
          <a:xfrm>
            <a:off x="457200" y="2441448"/>
            <a:ext cx="73152" cy="1051560"/>
          </a:xfrm>
          <a:prstGeom prst="rect">
            <a:avLst/>
          </a:prstGeom>
          <a:solidFill>
            <a:srgbClr val="10B981"/>
          </a:solidFill>
          <a:ln/>
        </p:spPr>
        <p:txBody>
          <a:bodyPr/>
          <a:lstStyle/>
          <a:p>
            <a:endParaRPr lang="en-US"/>
          </a:p>
        </p:txBody>
      </p:sp>
      <p:sp>
        <p:nvSpPr>
          <p:cNvPr id="12" name="Shape 10"/>
          <p:cNvSpPr/>
          <p:nvPr/>
        </p:nvSpPr>
        <p:spPr>
          <a:xfrm>
            <a:off x="731520" y="2715768"/>
            <a:ext cx="502920" cy="502920"/>
          </a:xfrm>
          <a:prstGeom prst="ellipse">
            <a:avLst/>
          </a:prstGeom>
          <a:solidFill>
            <a:srgbClr val="10B981"/>
          </a:solidFill>
          <a:ln/>
        </p:spPr>
        <p:txBody>
          <a:bodyPr/>
          <a:lstStyle/>
          <a:p>
            <a:endParaRPr lang="en-US"/>
          </a:p>
        </p:txBody>
      </p:sp>
      <p:sp>
        <p:nvSpPr>
          <p:cNvPr id="13" name="Text 11"/>
          <p:cNvSpPr/>
          <p:nvPr/>
        </p:nvSpPr>
        <p:spPr>
          <a:xfrm>
            <a:off x="731520" y="2715768"/>
            <a:ext cx="502920" cy="502920"/>
          </a:xfrm>
          <a:prstGeom prst="rect">
            <a:avLst/>
          </a:prstGeom>
          <a:noFill/>
          <a:ln/>
        </p:spPr>
        <p:txBody>
          <a:bodyPr wrap="square" rtlCol="0" anchor="ctr"/>
          <a:lstStyle/>
          <a:p>
            <a:pPr marL="0" indent="0" algn="ctr">
              <a:buNone/>
            </a:pPr>
            <a:r>
              <a:rPr lang="en-US" sz="2400" b="1" dirty="0">
                <a:solidFill>
                  <a:srgbClr val="FFFFFF"/>
                </a:solidFill>
                <a:latin typeface="Arial Black" pitchFamily="34" charset="0"/>
                <a:ea typeface="Arial Black" pitchFamily="34" charset="-122"/>
                <a:cs typeface="Arial Black" pitchFamily="34" charset="-120"/>
              </a:rPr>
              <a:t>2</a:t>
            </a:r>
            <a:endParaRPr lang="en-US" sz="2400" dirty="0"/>
          </a:p>
        </p:txBody>
      </p:sp>
      <p:sp>
        <p:nvSpPr>
          <p:cNvPr id="14" name="Text 12"/>
          <p:cNvSpPr/>
          <p:nvPr/>
        </p:nvSpPr>
        <p:spPr>
          <a:xfrm>
            <a:off x="1371600" y="2624328"/>
            <a:ext cx="6858000" cy="320040"/>
          </a:xfrm>
          <a:prstGeom prst="rect">
            <a:avLst/>
          </a:prstGeom>
          <a:noFill/>
          <a:ln/>
        </p:spPr>
        <p:txBody>
          <a:bodyPr wrap="square" rtlCol="0" anchor="ctr"/>
          <a:lstStyle/>
          <a:p>
            <a:pPr marL="0" indent="0">
              <a:buNone/>
            </a:pPr>
            <a:r>
              <a:rPr lang="en-US" sz="1800" b="1" dirty="0">
                <a:solidFill>
                  <a:srgbClr val="1E2761"/>
                </a:solidFill>
                <a:latin typeface="Arial" pitchFamily="34" charset="0"/>
                <a:ea typeface="Arial" pitchFamily="34" charset="-122"/>
                <a:cs typeface="Arial" pitchFamily="34" charset="-120"/>
              </a:rPr>
              <a:t>AI To-Do List</a:t>
            </a:r>
            <a:endParaRPr lang="en-US" sz="1800" dirty="0"/>
          </a:p>
        </p:txBody>
      </p:sp>
      <p:sp>
        <p:nvSpPr>
          <p:cNvPr id="15" name="Text 13"/>
          <p:cNvSpPr/>
          <p:nvPr/>
        </p:nvSpPr>
        <p:spPr>
          <a:xfrm>
            <a:off x="1371600" y="2971800"/>
            <a:ext cx="6858000" cy="457200"/>
          </a:xfrm>
          <a:prstGeom prst="rect">
            <a:avLst/>
          </a:prstGeom>
          <a:noFill/>
          <a:ln/>
        </p:spPr>
        <p:txBody>
          <a:bodyPr wrap="square" rtlCol="0" anchor="t"/>
          <a:lstStyle/>
          <a:p>
            <a:pPr marL="0" indent="0">
              <a:buNone/>
            </a:pPr>
            <a:r>
              <a:rPr lang="en-US" sz="1200" dirty="0">
                <a:solidFill>
                  <a:srgbClr val="2C3E50"/>
                </a:solidFill>
                <a:latin typeface="Calibri" pitchFamily="34" charset="0"/>
                <a:ea typeface="Calibri" pitchFamily="34" charset="-122"/>
                <a:cs typeface="Calibri" pitchFamily="34" charset="-120"/>
              </a:rPr>
              <a:t>Turn one sentence into actionable steps. Just say 'I want to study,' and AI breaks it down—breathe, focus, start. Complete each step, twist the ring, watch the gem light turn green.</a:t>
            </a:r>
            <a:endParaRPr lang="en-US" sz="1200" dirty="0"/>
          </a:p>
        </p:txBody>
      </p:sp>
      <p:sp>
        <p:nvSpPr>
          <p:cNvPr id="16" name="Shape 14"/>
          <p:cNvSpPr/>
          <p:nvPr/>
        </p:nvSpPr>
        <p:spPr>
          <a:xfrm>
            <a:off x="457200" y="3602736"/>
            <a:ext cx="8229600" cy="10515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7" name="Shape 15"/>
          <p:cNvSpPr/>
          <p:nvPr/>
        </p:nvSpPr>
        <p:spPr>
          <a:xfrm>
            <a:off x="457200" y="3602736"/>
            <a:ext cx="73152" cy="1051560"/>
          </a:xfrm>
          <a:prstGeom prst="rect">
            <a:avLst/>
          </a:prstGeom>
          <a:solidFill>
            <a:srgbClr val="F43F5E"/>
          </a:solidFill>
          <a:ln/>
        </p:spPr>
        <p:txBody>
          <a:bodyPr/>
          <a:lstStyle/>
          <a:p>
            <a:endParaRPr lang="en-US"/>
          </a:p>
        </p:txBody>
      </p:sp>
      <p:sp>
        <p:nvSpPr>
          <p:cNvPr id="18" name="Shape 16"/>
          <p:cNvSpPr/>
          <p:nvPr/>
        </p:nvSpPr>
        <p:spPr>
          <a:xfrm>
            <a:off x="731520" y="3877056"/>
            <a:ext cx="502920" cy="502920"/>
          </a:xfrm>
          <a:prstGeom prst="ellipse">
            <a:avLst/>
          </a:prstGeom>
          <a:solidFill>
            <a:srgbClr val="F43F5E"/>
          </a:solidFill>
          <a:ln/>
        </p:spPr>
        <p:txBody>
          <a:bodyPr/>
          <a:lstStyle/>
          <a:p>
            <a:endParaRPr lang="en-US"/>
          </a:p>
        </p:txBody>
      </p:sp>
      <p:sp>
        <p:nvSpPr>
          <p:cNvPr id="19" name="Text 17"/>
          <p:cNvSpPr/>
          <p:nvPr/>
        </p:nvSpPr>
        <p:spPr>
          <a:xfrm>
            <a:off x="731520" y="3877056"/>
            <a:ext cx="502920" cy="502920"/>
          </a:xfrm>
          <a:prstGeom prst="rect">
            <a:avLst/>
          </a:prstGeom>
          <a:noFill/>
          <a:ln/>
        </p:spPr>
        <p:txBody>
          <a:bodyPr wrap="square" rtlCol="0" anchor="ctr"/>
          <a:lstStyle/>
          <a:p>
            <a:pPr marL="0" indent="0" algn="ctr">
              <a:buNone/>
            </a:pPr>
            <a:r>
              <a:rPr lang="en-US" sz="2400" b="1" dirty="0">
                <a:solidFill>
                  <a:srgbClr val="FFFFFF"/>
                </a:solidFill>
                <a:latin typeface="Arial Black" pitchFamily="34" charset="0"/>
                <a:ea typeface="Arial Black" pitchFamily="34" charset="-122"/>
                <a:cs typeface="Arial Black" pitchFamily="34" charset="-120"/>
              </a:rPr>
              <a:t>3</a:t>
            </a:r>
            <a:endParaRPr lang="en-US" sz="2400" dirty="0"/>
          </a:p>
        </p:txBody>
      </p:sp>
      <p:sp>
        <p:nvSpPr>
          <p:cNvPr id="20" name="Text 18"/>
          <p:cNvSpPr/>
          <p:nvPr/>
        </p:nvSpPr>
        <p:spPr>
          <a:xfrm>
            <a:off x="1371600" y="3785616"/>
            <a:ext cx="6858000" cy="320040"/>
          </a:xfrm>
          <a:prstGeom prst="rect">
            <a:avLst/>
          </a:prstGeom>
          <a:noFill/>
          <a:ln/>
        </p:spPr>
        <p:txBody>
          <a:bodyPr wrap="square" rtlCol="0" anchor="ctr"/>
          <a:lstStyle/>
          <a:p>
            <a:pPr marL="0" indent="0">
              <a:buNone/>
            </a:pPr>
            <a:r>
              <a:rPr lang="en-US" sz="1800" b="1" dirty="0">
                <a:solidFill>
                  <a:srgbClr val="1E2761"/>
                </a:solidFill>
                <a:latin typeface="Arial" pitchFamily="34" charset="0"/>
                <a:ea typeface="Arial" pitchFamily="34" charset="-122"/>
                <a:cs typeface="Arial" pitchFamily="34" charset="-120"/>
              </a:rPr>
              <a:t>Emotion &amp; Life Journal</a:t>
            </a:r>
            <a:endParaRPr lang="en-US" sz="1800" dirty="0"/>
          </a:p>
        </p:txBody>
      </p:sp>
      <p:sp>
        <p:nvSpPr>
          <p:cNvPr id="21" name="Text 19"/>
          <p:cNvSpPr/>
          <p:nvPr/>
        </p:nvSpPr>
        <p:spPr>
          <a:xfrm>
            <a:off x="1371600" y="4133088"/>
            <a:ext cx="6858000" cy="457200"/>
          </a:xfrm>
          <a:prstGeom prst="rect">
            <a:avLst/>
          </a:prstGeom>
          <a:noFill/>
          <a:ln/>
        </p:spPr>
        <p:txBody>
          <a:bodyPr wrap="square" rtlCol="0" anchor="t"/>
          <a:lstStyle/>
          <a:p>
            <a:pPr marL="0" indent="0">
              <a:buNone/>
            </a:pPr>
            <a:r>
              <a:rPr lang="en-US" sz="1200" dirty="0">
                <a:solidFill>
                  <a:srgbClr val="2C3E50"/>
                </a:solidFill>
                <a:latin typeface="Calibri" pitchFamily="34" charset="0"/>
                <a:ea typeface="Calibri" pitchFamily="34" charset="-122"/>
                <a:cs typeface="Calibri" pitchFamily="34" charset="-120"/>
              </a:rPr>
              <a:t>What you did, cared about, and felt—AI turns your day into reflective insights. Not just pretty notes, but meaningful growth tracking.</a:t>
            </a:r>
            <a:endParaRPr lang="en-US" sz="1200" dirty="0"/>
          </a:p>
        </p:txBody>
      </p:sp>
      <p:sp>
        <p:nvSpPr>
          <p:cNvPr id="22" name="Text 20"/>
          <p:cNvSpPr/>
          <p:nvPr/>
        </p:nvSpPr>
        <p:spPr>
          <a:xfrm>
            <a:off x="457200" y="4677714"/>
            <a:ext cx="8229600" cy="365760"/>
          </a:xfrm>
          <a:prstGeom prst="rect">
            <a:avLst/>
          </a:prstGeom>
          <a:noFill/>
          <a:ln/>
        </p:spPr>
        <p:txBody>
          <a:bodyPr wrap="square" rtlCol="0" anchor="ctr"/>
          <a:lstStyle/>
          <a:p>
            <a:pPr marL="0" indent="0" algn="ctr">
              <a:buNone/>
            </a:pPr>
            <a:r>
              <a:rPr lang="en-US" sz="1400" i="1" dirty="0">
                <a:solidFill>
                  <a:srgbClr val="64748B"/>
                </a:solidFill>
                <a:latin typeface="Georgia" pitchFamily="34" charset="0"/>
                <a:ea typeface="Georgia" pitchFamily="34" charset="-122"/>
                <a:cs typeface="Georgia" pitchFamily="34" charset="-120"/>
              </a:rPr>
              <a:t>A ring that's beautiful to wear. An AI that helps you learn, act, and reflect.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153</Words>
  <Application>Microsoft Macintosh PowerPoint</Application>
  <PresentationFormat>On-screen Show (16:9)</PresentationFormat>
  <Paragraphs>17</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Arial Black</vt:lpstr>
      <vt:lpstr>Calibri</vt:lpstr>
      <vt:lpstr>Georgia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Cible - AI On Your Finger</dc:title>
  <dc:subject>PptxGenJS Presentation</dc:subject>
  <dc:creator>Cible Team</dc:creator>
  <cp:lastModifiedBy>Wang, Dingyi</cp:lastModifiedBy>
  <cp:revision>2</cp:revision>
  <dcterms:created xsi:type="dcterms:W3CDTF">2026-02-06T01:36:30Z</dcterms:created>
  <dcterms:modified xsi:type="dcterms:W3CDTF">2026-02-06T01:44:44Z</dcterms:modified>
</cp:coreProperties>
</file>